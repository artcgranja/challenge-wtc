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960C"/>
          </a:solidFill>
          <a:ln/>
        </p:spPr>
      </p:sp>
      <p:sp>
        <p:nvSpPr>
          <p:cNvPr id="4" name="Shape 2"/>
          <p:cNvSpPr/>
          <p:nvPr/>
        </p:nvSpPr>
        <p:spPr>
          <a:xfrm>
            <a:off x="9326880" y="-1828800"/>
            <a:ext cx="4937760" cy="4937760"/>
          </a:xfrm>
          <a:prstGeom prst="ellipse">
            <a:avLst/>
          </a:prstGeom>
          <a:solidFill>
            <a:srgbClr val="1B2438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07040" y="4023360"/>
            <a:ext cx="3291840" cy="3291840"/>
          </a:xfrm>
          <a:prstGeom prst="ellipse">
            <a:avLst/>
          </a:prstGeom>
          <a:solidFill>
            <a:srgbClr val="16203A"/>
          </a:solidFill>
          <a:ln w="12700">
            <a:solidFill>
              <a:srgbClr val="1620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 WTC 2025  ·  FIAP  ·  ANÁLISE E DESENVOLVIMENTO DE SISTEMAS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WTC Chat App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comunicação CRM — app iOS nativo + backend Java robusto, integrados via APIs REST reais e mensageria em tempo real.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5120640" cy="502920"/>
          </a:xfrm>
          <a:prstGeom prst="rect">
            <a:avLst>
              <a:gd name="adj" fmla="val 9091"/>
            </a:avLst>
          </a:prstGeom>
          <a:solidFill>
            <a:srgbClr val="F296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5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2</a:t>
            </a:r>
            <a:pPr algn="ctr" indent="0" marL="0">
              <a:buNone/>
            </a:pPr>
            <a:r>
              <a:rPr lang="en-US" sz="1500" dirty="0">
                <a:solidFill>
                  <a:srgbClr val="0E15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Backend real · sem mocks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19/05 · 23h00   |   Equipe 2TDS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8778240" cy="100584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331720"/>
            <a:ext cx="100584" cy="1005840"/>
          </a:xfrm>
          <a:prstGeom prst="rect">
            <a:avLst/>
          </a:prstGeom>
          <a:solidFill>
            <a:srgbClr val="F2960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Arthur Cavalcanti Granja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23760" y="24688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296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560650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8778240" cy="960120"/>
          </a:xfrm>
          <a:prstGeom prst="rect">
            <a:avLst/>
          </a:prstGeom>
          <a:solidFill>
            <a:srgbClr val="16203A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79476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Desenvolvimento de Sistemas — 2TDS · FIAP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WTC 2025 · Sprint 2 — Backend + Integração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&amp; 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Visão Geral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402336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5257800" cy="566928"/>
          </a:xfrm>
          <a:prstGeom prst="rect">
            <a:avLst/>
          </a:prstGeom>
          <a:solidFill>
            <a:srgbClr val="4F8DF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5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542032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fragmentada entre empresa e clientes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personalização nas mensagens de marketing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sem interatividade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 em segmentar o público-alvo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257800" cy="402336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828800"/>
            <a:ext cx="5257800" cy="566928"/>
          </a:xfrm>
          <a:prstGeom prst="rect">
            <a:avLst/>
          </a:prstGeom>
          <a:solidFill>
            <a:srgbClr val="F2960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82880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5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SOLUÇÃO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542032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segmentadas 1:1 e por grupo/tag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+ pop-up in-app, histórico de chat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de ação e deeplinks interativos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 app (visão operador) + tempo real (WebSocket)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Arquitetura do Backend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743200" cy="2926080"/>
          </a:xfrm>
          <a:prstGeom prst="rect">
            <a:avLst/>
          </a:prstGeom>
          <a:solidFill>
            <a:srgbClr val="1B2438"/>
          </a:solidFill>
          <a:ln w="25400">
            <a:solidFill>
              <a:srgbClr val="4F8DF7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8D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iOS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1546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SwiftUI · MVVM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· iOS 15+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deps externas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240280"/>
            <a:ext cx="3520440" cy="2926080"/>
          </a:xfrm>
          <a:prstGeom prst="rect">
            <a:avLst/>
          </a:prstGeom>
          <a:solidFill>
            <a:srgbClr val="1B2438"/>
          </a:solidFill>
          <a:ln w="25400">
            <a:solidFill>
              <a:srgbClr val="F2960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2377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 Boot 3.3  ·  Java 17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9160" y="2880360"/>
            <a:ext cx="3154680" cy="658368"/>
          </a:xfrm>
          <a:prstGeom prst="rect">
            <a:avLst/>
          </a:prstGeom>
          <a:solidFill>
            <a:srgbClr val="1B2B45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18888" y="288036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REST · Services · Repositories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3639312"/>
            <a:ext cx="3154680" cy="658368"/>
          </a:xfrm>
          <a:prstGeom prst="rect">
            <a:avLst/>
          </a:prstGeom>
          <a:solidFill>
            <a:srgbClr val="16282E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3639312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— JWT · BCrypt · Roles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4398264"/>
            <a:ext cx="3154680" cy="658368"/>
          </a:xfrm>
          <a:prstGeom prst="rect">
            <a:avLst/>
          </a:prstGeom>
          <a:solidFill>
            <a:srgbClr val="241B33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4398264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AOP — auditoria automática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89720" y="2240280"/>
            <a:ext cx="2377440" cy="2926080"/>
          </a:xfrm>
          <a:prstGeom prst="rect">
            <a:avLst/>
          </a:prstGeom>
          <a:solidFill>
            <a:srgbClr val="1B2438"/>
          </a:solidFill>
          <a:ln w="25400">
            <a:solidFill>
              <a:srgbClr val="2DD4BF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89720" y="3017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8972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3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collections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29900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8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REST/JSON · JWT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01568" y="3337560"/>
            <a:ext cx="1106424" cy="0"/>
          </a:xfrm>
          <a:prstGeom prst="line">
            <a:avLst/>
          </a:prstGeom>
          <a:noFill/>
          <a:ln w="31750">
            <a:solidFill>
              <a:srgbClr val="4F8DF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29184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STOMP / WebSocket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01568" y="4206240"/>
            <a:ext cx="1106424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dash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065008" y="3703320"/>
            <a:ext cx="1106424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envio: Controller → Service → Repository → MongoDB; em paralelo cria Notification e faz broadcast via WebSocketService para /topic/messages/{userId}. AuditAspect (AOP) registra toda operação de escrita.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 &amp; Segurança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72800" cy="676656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31720" y="1920240"/>
            <a:ext cx="0" cy="493776"/>
          </a:xfrm>
          <a:prstGeom prst="line">
            <a:avLst/>
          </a:prstGeom>
          <a:noFill/>
          <a:ln w="12700">
            <a:solidFill>
              <a:srgbClr val="3341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828800"/>
            <a:ext cx="8869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5.9 · SwiftUI · Combine · MVVM · iOS 15+ · sem dependências externas (URLSession + STOMP manual)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72800" cy="676656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78608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2670048"/>
            <a:ext cx="0" cy="493776"/>
          </a:xfrm>
          <a:prstGeom prst="line">
            <a:avLst/>
          </a:prstGeom>
          <a:noFill/>
          <a:ln w="12700">
            <a:solidFill>
              <a:srgbClr val="3341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2578608"/>
            <a:ext cx="8869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 · Spring Boot 3.3 · Spring Security · Spring Data MongoDB · Spring WebSocket · Spring AOP · Lombok · JJWT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10972800" cy="676656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28416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Banco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31720" y="3419856"/>
            <a:ext cx="0" cy="493776"/>
          </a:xfrm>
          <a:prstGeom prst="line">
            <a:avLst/>
          </a:prstGeom>
          <a:noFill/>
          <a:ln w="12700">
            <a:solidFill>
              <a:srgbClr val="3341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328416"/>
            <a:ext cx="8869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6.0+ — NoSQL orientado a documentos, 7 collections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078224"/>
            <a:ext cx="10972800" cy="676656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78224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331720" y="4169664"/>
            <a:ext cx="0" cy="493776"/>
          </a:xfrm>
          <a:prstGeom prst="line">
            <a:avLst/>
          </a:prstGeom>
          <a:noFill/>
          <a:ln w="12700">
            <a:solidFill>
              <a:srgbClr val="3341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4078224"/>
            <a:ext cx="8869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(access 24h / refresh 7d) · BCrypt · roles OPERATOR / CLIENT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28032"/>
            <a:ext cx="10972800" cy="676656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82803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Realtime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331720" y="4919472"/>
            <a:ext cx="0" cy="493776"/>
          </a:xfrm>
          <a:prstGeom prst="line">
            <a:avLst/>
          </a:prstGeom>
          <a:noFill/>
          <a:ln w="12700">
            <a:solidFill>
              <a:srgbClr val="3341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4828032"/>
            <a:ext cx="8869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STOMP — /topic/messages/{userId} · /topic/notifications/{userId}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72800" cy="676656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577840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Governança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331720" y="5669280"/>
            <a:ext cx="0" cy="493776"/>
          </a:xfrm>
          <a:prstGeom prst="line">
            <a:avLst/>
          </a:prstGeom>
          <a:noFill/>
          <a:ln w="12700">
            <a:solidFill>
              <a:srgbClr val="3341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0" y="5577840"/>
            <a:ext cx="8869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automática via AOP (@AfterReturning) em toda operação de escrita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NOSQL — MONGODB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88920" y="16916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email* · password · fullName · phone · role · tags[] · status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88920" y="233172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userId* · tags[] · score · status · notes[] · segmentIds[]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718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88920" y="297180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name · description · tags[] · createdBy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61188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118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88920" y="3611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type · senderId · recipientId* · segmentTags[] · content · status · readAt · starred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519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campaigns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88920" y="425196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name · segmentId · content · deeplink · status · sentBy · messageCount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920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88920" y="4892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userId* · title · body · type · read · messageId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532120"/>
            <a:ext cx="10972800" cy="566928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532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audit_logs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88920" y="553212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userId · action · resource · resourceId · details · ipAddress · timestamp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campo indexado   ·   content = { title, body, imageUrl, buttons[] }   ·   Inbox: $or [ recipientId = userId, segmentTags ∈ userTags ]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ESPECIFICAÇÃO — ROTA · MÉTODO · ACESSO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Endpoints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38328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 · CRM · Segmentos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572000"/>
                <a:gridCol w="1463040"/>
                <a:gridCol w="35661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Método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Rota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Acesso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Descrição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/api/auth/login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→ JWT + perfil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/api/auth/register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usuário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/api/auth/refresh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Renovar token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/api/customers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(filtros tag/status/minScore)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/api/customers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Criar cliente 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GET/PUT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/api/customers/{id}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 / atualizar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/api/customers/{id}/timeline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360° (msgs + notas)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/api/customers/{id}/notes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Anotação rápida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GET/POST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/api/segments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/ criar segmento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PUT/DELETE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/api/segments/{id}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Atualizar / remover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ESPECIFICAÇÃO — ROTA · MÉTODO · ACESSO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Endpoints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38328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Mensagens · Campanhas · Notificações · Auditoria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572000"/>
                <a:gridCol w="1463040"/>
                <a:gridCol w="35661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Método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Rota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Acesso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960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Descrição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E4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/api/messages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msg (1:1 ou segmento)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/api/messages/{id}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 da mensagem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/api/inbox/{customerId}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Inbox do cliente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/api/messages/sent/{senderId}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Histórico de enviadas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/api/messages/{id}/read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Marcar como lida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/api/messages/{id}/star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Favoritar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GET/POST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/api/campaigns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/ criar campanha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/api/campaigns/{id}/send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para segmento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GET/PUT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/api/notifications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/ marcar lida(s)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D4B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F6F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/api/audit-logs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1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(filtros resource/userId)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EXEMPLO — PAYLOAD &amp; RESPOSTA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Flexível de Mensagem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 ·  POST /api/messages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0" cy="411480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"CHAT",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"recipient_id": "uuid-cliente",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"content":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"title": "Campanha Especial",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"body": "Participe do evento!",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"image_url": "https://.../img.jpg",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"buttons": [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"label": "Inscrever-se",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"action": "https://wtc.com/x"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"label": "Ver perfil",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"action": "deeplink://profile"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0" y="1645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 ·  201 Created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965960"/>
            <a:ext cx="5166360" cy="411480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10312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"uuid-msg",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"CHAT",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"sender_id": "uuid-operador",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"recipient_id": "uuid-cliente",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"content": { ...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"SENT",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"starred": false,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"created_at": "2026-05-19T23:00:00Z"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SENT → DELIVERED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→ READ → FAILED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CRIATIVIDADE &amp; INOVAÇÃO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Diferenciais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440680" cy="13258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325880"/>
          </a:xfrm>
          <a:prstGeom prst="rect">
            <a:avLst/>
          </a:prstGeom>
          <a:solidFill>
            <a:srgbClr val="4F8DF7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D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 real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35000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WebSocket/STOMP: nova mensagem aparece instantaneamente no app, sem polling.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440680" cy="13258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783080"/>
            <a:ext cx="82296" cy="1325880"/>
          </a:xfrm>
          <a:prstGeom prst="rect">
            <a:avLst/>
          </a:prstGeom>
          <a:solidFill>
            <a:srgbClr val="C792EA"/>
          </a:solidFill>
          <a:ln/>
        </p:spPr>
      </p:sp>
      <p:sp>
        <p:nvSpPr>
          <p:cNvPr id="10" name="Text 8"/>
          <p:cNvSpPr/>
          <p:nvPr/>
        </p:nvSpPr>
        <p:spPr>
          <a:xfrm>
            <a:off x="6556248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92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Governança (AOP)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56248" y="235000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automática de toda escrita via Spring AOP — zero código manual.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64408"/>
            <a:ext cx="5440680" cy="13258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64408"/>
            <a:ext cx="82296" cy="1325880"/>
          </a:xfrm>
          <a:prstGeom prst="rect">
            <a:avLst/>
          </a:prstGeom>
          <a:solidFill>
            <a:srgbClr val="F2960C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447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Multi-role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" y="3831336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por papel: CLIENT (inbox) vs OPERATOR (CRM completo no app).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3264408"/>
            <a:ext cx="5440680" cy="13258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264408"/>
            <a:ext cx="82296" cy="13258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6556248" y="3447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Botões interativos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56248" y="3831336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deeplink:// (navegação interna), https:// (externo), copy: (clipboard).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45736"/>
            <a:ext cx="5440680" cy="13258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45736"/>
            <a:ext cx="82296" cy="1325880"/>
          </a:xfrm>
          <a:prstGeom prst="rect">
            <a:avLst/>
          </a:prstGeom>
          <a:solidFill>
            <a:srgbClr val="4F8DF7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49286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D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 de mensagem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32688" y="5312664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SENT → DELIVERED → READ → FAILED rastreado no documento.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4745736"/>
            <a:ext cx="5440680" cy="13258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4745736"/>
            <a:ext cx="82296" cy="1325880"/>
          </a:xfrm>
          <a:prstGeom prst="rect">
            <a:avLst/>
          </a:prstGeom>
          <a:solidFill>
            <a:srgbClr val="F2960C"/>
          </a:solidFill>
          <a:ln/>
        </p:spPr>
      </p:sp>
      <p:sp>
        <p:nvSpPr>
          <p:cNvPr id="26" name="Text 24"/>
          <p:cNvSpPr/>
          <p:nvPr/>
        </p:nvSpPr>
        <p:spPr>
          <a:xfrm>
            <a:off x="6556248" y="49286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deps no iOS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56248" y="5312664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nativo sem libs externas — STOMP client implementado manualmente.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WTC Chat App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960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ENTREGÁVEIS &amp; EXECUÇÃO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rodar o projeto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5212080" cy="33832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9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28803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openjdk@17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mongodb-community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services start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mongodb-community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backend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JAVA_HOME=$(brew --prefix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openjdk@17) ./mvnw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spring-boot:run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http://localhost:8080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2286000"/>
            <a:ext cx="4983480" cy="3383280"/>
          </a:xfrm>
          <a:prstGeom prst="rect">
            <a:avLst/>
          </a:prstGeom>
          <a:solidFill>
            <a:srgbClr val="1B2438"/>
          </a:solidFill>
          <a:ln w="12700">
            <a:solidFill>
              <a:srgbClr val="33415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D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iOS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88036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xcodegen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Challenge-WTC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xcodegen generate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WTCChatApp.xcodeproj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Cmd+R (iPhone 15+)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Entregáveis: backend.zip ·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app.zip + WTCChatApp.ipa ·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apresentação (.pptx/.pdf)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github.com/artcgranja/Challenge-WTC   ·   Challenge WTC 2025 — Sprint 2 — FIAP 2TDS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WTC Chat App — Challenge WTC 2025 (Sprint 2)</dc:title>
  <dc:subject>PptxGenJS Presentation</dc:subject>
  <dc:creator>Arthur Cavalcanti Granja</dc:creator>
  <cp:lastModifiedBy>Arthur Cavalcanti Granja</cp:lastModifiedBy>
  <cp:revision>1</cp:revision>
  <dcterms:created xsi:type="dcterms:W3CDTF">2026-05-19T19:00:53Z</dcterms:created>
  <dcterms:modified xsi:type="dcterms:W3CDTF">2026-05-19T19:00:53Z</dcterms:modified>
</cp:coreProperties>
</file>